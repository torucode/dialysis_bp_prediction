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375F"/>
                </a:solidFill>
                <a:latin typeface="Yu Gothic"/>
              </a:defRPr>
            </a:pPr>
            <a:r>
              <a:t>透析中の血圧予測 AIモデル &amp; 推論アプリ</a:t>
            </a:r>
          </a:p>
          <a:p>
            <a:pPr>
              <a:spcBef>
                <a:spcPts val="1200"/>
              </a:spcBef>
              <a:defRPr sz="1700">
                <a:solidFill>
                  <a:srgbClr val="646E78"/>
                </a:solidFill>
                <a:latin typeface="Yu Gothic"/>
              </a:defRPr>
            </a:pPr>
            <a:r>
              <a:t>PyTorchによる多出力回帰モデルを FastAPI / Streamlit で利用可能な形まで実装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73152" cy="1417320"/>
          </a:xfrm>
          <a:prstGeom prst="rect">
            <a:avLst/>
          </a:prstGeom>
          <a:solidFill>
            <a:srgbClr val="2B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33192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74904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透析中の血圧変動を、治療条件・患者状態に関する特徴量から予測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3154680"/>
            <a:ext cx="73152" cy="141732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33192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実装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749040"/>
            <a:ext cx="3063240" cy="510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rPr lang="ja-JP" altLang="en-US" dirty="0"/>
              <a:t>・</a:t>
            </a:r>
            <a:r>
              <a:rPr dirty="0" err="1"/>
              <a:t>PyTorch</a:t>
            </a:r>
            <a:r>
              <a:rPr lang="ja-JP" altLang="en-US" dirty="0"/>
              <a:t>　　　　　・</a:t>
            </a:r>
            <a:r>
              <a:rPr dirty="0" err="1"/>
              <a:t>StandardScaler</a:t>
            </a:r>
            <a:endParaRPr dirty="0"/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rPr lang="ja-JP" altLang="en-US" dirty="0"/>
              <a:t>・</a:t>
            </a:r>
            <a:r>
              <a:rPr dirty="0" err="1"/>
              <a:t>FastAPI</a:t>
            </a:r>
            <a:r>
              <a:rPr lang="ja-JP" altLang="en-US" dirty="0"/>
              <a:t>            ・</a:t>
            </a:r>
            <a:r>
              <a:rPr dirty="0" err="1"/>
              <a:t>Streamlit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804672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3154680"/>
            <a:ext cx="73152" cy="1417320"/>
          </a:xfrm>
          <a:prstGeom prst="rect">
            <a:avLst/>
          </a:prstGeom>
          <a:solidFill>
            <a:srgbClr val="D3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33192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出力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749040"/>
            <a:ext cx="3063240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rPr dirty="0" err="1"/>
              <a:t>収縮期血圧</a:t>
            </a:r>
            <a:endParaRPr dirty="0"/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rPr dirty="0" err="1"/>
              <a:t>拡張期血圧</a:t>
            </a:r>
            <a:endParaRPr dirty="0"/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rPr dirty="0" err="1"/>
              <a:t>脈拍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375F"/>
                </a:solidFill>
                <a:latin typeface="Yu Gothic"/>
              </a:defRPr>
            </a:pPr>
            <a:r>
              <a:t>医療現場の課題設定 → モデル構築 → API化 → UI実装までを一貫して検証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Yu Gothic"/>
              </a:defRPr>
            </a:pPr>
            <a:r>
              <a:t>dialysis_bp_prediction  |  Portfolio Overview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375F"/>
                </a:solidFill>
                <a:latin typeface="Yu Gothic"/>
              </a:rPr>
              <a:t>1. 背景と目的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6E78"/>
                </a:solidFill>
                <a:latin typeface="Yu Gothic"/>
              </a:rPr>
              <a:t>透析現場の課題を、予測モデルとして定式化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32004"/>
          </a:xfrm>
          <a:prstGeom prst="rect">
            <a:avLst/>
          </a:prstGeom>
          <a:solidFill>
            <a:srgbClr val="2B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4297680"/>
          </a:xfrm>
          <a:prstGeom prst="rect">
            <a:avLst/>
          </a:prstGeom>
          <a:solidFill>
            <a:srgbClr val="2B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0312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透析中の血圧は、除水・体液量・患者状態など複数因子の影響を受ける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急激な血圧変動は治療中の観察・対応を難しくする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蓄積データを活用し、状態変化を定量的に捉えることを目指した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429768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目的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0312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10項目の説明変数から3つのバイタルを同時予測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収縮期血圧 / 拡張期血圧 / 脈拍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モデル精度だけでなく、実際に利用できる推論API・UIまで実装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508760"/>
            <a:ext cx="73152" cy="4297680"/>
          </a:xfrm>
          <a:prstGeom prst="rect">
            <a:avLst/>
          </a:prstGeom>
          <a:solidFill>
            <a:srgbClr val="D3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673351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設計上のポイント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0312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医療データのためプライバシーに配慮した加工済みデータを使用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train / validation / test を分離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学習時のScalerとモデルをartifactとして保存し、推論時に再利用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Yu Gothic"/>
              </a:defRPr>
            </a:pPr>
            <a:r>
              <a:t>dialysis_bp_prediction  |  Portfolio Overview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375F"/>
                </a:solidFill>
                <a:latin typeface="Yu Gothic"/>
              </a:rPr>
              <a:t>2. システム構成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6E78"/>
                </a:solidFill>
                <a:latin typeface="Yu Gothic"/>
              </a:rPr>
              <a:t>学習と推論を分離し、モデルをアプリケーションから利用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32004"/>
          </a:xfrm>
          <a:prstGeom prst="rect">
            <a:avLst/>
          </a:prstGeom>
          <a:solidFill>
            <a:srgbClr val="2B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377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73152" cy="2057400"/>
          </a:xfrm>
          <a:prstGeom prst="rect">
            <a:avLst/>
          </a:prstGeom>
          <a:solidFill>
            <a:srgbClr val="2B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① 学習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60320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Colab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PyTorch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17520" y="2606040"/>
            <a:ext cx="411480" cy="502920"/>
          </a:xfrm>
          <a:prstGeom prst="rightArrow">
            <a:avLst/>
          </a:prstGeom>
          <a:solidFill>
            <a:srgbClr val="AAB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83280" y="1965960"/>
            <a:ext cx="2377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965960"/>
            <a:ext cx="73152" cy="205740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2130552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② 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560320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model.pth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scaler_x.pkl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scaler_t.pkl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6440" y="2606040"/>
            <a:ext cx="411480" cy="502920"/>
          </a:xfrm>
          <a:prstGeom prst="rightArrow">
            <a:avLst/>
          </a:prstGeom>
          <a:solidFill>
            <a:srgbClr val="AAB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1965960"/>
            <a:ext cx="2377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965960"/>
            <a:ext cx="73152" cy="2057400"/>
          </a:xfrm>
          <a:prstGeom prst="rect">
            <a:avLst/>
          </a:prstGeom>
          <a:solidFill>
            <a:srgbClr val="D3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2130552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③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560320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FastAPI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/predict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95360" y="2606040"/>
            <a:ext cx="411480" cy="502920"/>
          </a:xfrm>
          <a:prstGeom prst="rightArrow">
            <a:avLst/>
          </a:prstGeom>
          <a:solidFill>
            <a:srgbClr val="AAB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61120" y="1965960"/>
            <a:ext cx="2377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20" y="1965960"/>
            <a:ext cx="73152" cy="205740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62288" y="2130552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④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560320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Streamlit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入力・結果表示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  <a:latin typeface="Yu Gothic"/>
              </a:defRPr>
            </a:pPr>
            <a:r>
              <a:t>推論時は保存済みモデルとScalerを読み込み、API経由で3出力を返却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  <a:latin typeface="Yu Gothic"/>
              </a:defRPr>
            </a:pPr>
            <a:r>
              <a:t>UIとモデルを直接結合せず、FastAPIを介する構成にした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Yu Gothic"/>
              </a:defRPr>
            </a:pPr>
            <a:r>
              <a:t>dialysis_bp_prediction  |  Portfolio Overview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375F"/>
                </a:solidFill>
                <a:latin typeface="Yu Gothic"/>
              </a:rPr>
              <a:t>3. モデル設計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6E78"/>
                </a:solidFill>
                <a:latin typeface="Yu Gothic"/>
              </a:rPr>
              <a:t>多出力回帰ニューラルネットワーク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32004"/>
          </a:xfrm>
          <a:prstGeom prst="rect">
            <a:avLst/>
          </a:prstGeom>
          <a:solidFill>
            <a:srgbClr val="2B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73152" cy="4526280"/>
          </a:xfrm>
          <a:prstGeom prst="rect">
            <a:avLst/>
          </a:prstGeom>
          <a:solidFill>
            <a:srgbClr val="2B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入力特徴量（10項目）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DW / CTR / 50%TZ20ml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リズミック / レニベース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積算除水量 / 総除水量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残し量 / 下肢アップ / 液温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73152" cy="452628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2763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前処理・データ分割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5740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Train: 285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Validation: 95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Test: 95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StandardScaler：入力・出力とも標準化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学習データから算出したScalerを推論時にも利用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383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73152" cy="4526280"/>
          </a:xfrm>
          <a:prstGeom prst="rect">
            <a:avLst/>
          </a:prstGeom>
          <a:solidFill>
            <a:srgbClr val="D3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62763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ネットワーク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5740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Linear(64) → BatchNorm → Dropout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Linear(32) → BatchNorm → Dropout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Linear(3)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3出力を同時に最適化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Yu Gothic"/>
              </a:defRPr>
            </a:pPr>
            <a:r>
              <a:t>dialysis_bp_prediction  |  Portfolio Overview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375F"/>
                </a:solidFill>
                <a:latin typeface="Yu Gothic"/>
              </a:rPr>
              <a:t>4. テストデータ評価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6E78"/>
                </a:solidFill>
                <a:latin typeface="Yu Gothic"/>
              </a:rPr>
              <a:t>元スケールでRMSE / MAEを確認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32004"/>
          </a:xfrm>
          <a:prstGeom prst="rect">
            <a:avLst/>
          </a:prstGeom>
          <a:solidFill>
            <a:srgbClr val="2B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45920"/>
          <a:ext cx="6583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収縮期血圧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拡張期血圧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脈拍</a:t>
                      </a:r>
                    </a:p>
                  </a:txBody>
                  <a:tcPr>
                    <a:solidFill>
                      <a:srgbClr val="1937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4"/>
                          </a:solidFill>
                          <a:latin typeface="Yu Gothic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4"/>
                          </a:solidFill>
                          <a:latin typeface="Yu Gothic"/>
                        </a:defRPr>
                      </a:pPr>
                      <a:r>
                        <a:t>27.85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4"/>
                          </a:solidFill>
                          <a:latin typeface="Yu Gothic"/>
                        </a:defRPr>
                      </a:pPr>
                      <a:r>
                        <a:t>14.17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4"/>
                          </a:solidFill>
                          <a:latin typeface="Yu Gothic"/>
                        </a:defRPr>
                      </a:pPr>
                      <a:r>
                        <a:t>3.35 bpm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4"/>
                          </a:solidFill>
                          <a:latin typeface="Yu Gothic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4"/>
                          </a:solidFill>
                          <a:latin typeface="Yu Gothic"/>
                        </a:defRPr>
                      </a:pPr>
                      <a:r>
                        <a:t>22.77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4"/>
                          </a:solidFill>
                          <a:latin typeface="Yu Gothic"/>
                        </a:defRPr>
                      </a:pPr>
                      <a:r>
                        <a:t>11.55 mmHg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A34"/>
                          </a:solidFill>
                          <a:latin typeface="Yu Gothic"/>
                        </a:defRPr>
                      </a:pPr>
                      <a:r>
                        <a:t>2.72 bpm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508760"/>
            <a:ext cx="3703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508760"/>
            <a:ext cx="73152" cy="4480560"/>
          </a:xfrm>
          <a:prstGeom prst="rect">
            <a:avLst/>
          </a:prstGeom>
          <a:solidFill>
            <a:srgbClr val="B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7848" y="1673351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読み取り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2103120"/>
            <a:ext cx="3337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脈拍は比較的良好な精度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血圧、とくに収縮期血圧は誤差が大きい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「動くデモ」だけでなく、限界を数値で評価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現状では臨床判断に直接利用する精度ではなく、研究・検証段階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9375F"/>
                </a:solidFill>
                <a:latin typeface="Yu Gothic"/>
              </a:defRPr>
            </a:pPr>
            <a:r>
              <a:t>評価値を隠さず提示し、改善余地を明確化することも本プロジェクトの重要な成果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Yu Gothic"/>
              </a:defRPr>
            </a:pPr>
            <a:r>
              <a:t>dialysis_bp_prediction  |  Portfolio Overview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375F"/>
                </a:solidFill>
                <a:latin typeface="Yu Gothic"/>
              </a:rPr>
              <a:t>5. API / UI 実装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6E78"/>
                </a:solidFill>
                <a:latin typeface="Yu Gothic"/>
              </a:rPr>
              <a:t>モデルを利用可能な形へ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32004"/>
          </a:xfrm>
          <a:prstGeom prst="rect">
            <a:avLst/>
          </a:prstGeom>
          <a:solidFill>
            <a:srgbClr val="2B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スクリーンショット (291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25930"/>
            <a:ext cx="6949439" cy="39090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417320"/>
            <a:ext cx="3794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417320"/>
            <a:ext cx="73152" cy="1965960"/>
          </a:xfrm>
          <a:prstGeom prst="rect">
            <a:avLst/>
          </a:prstGeom>
          <a:solidFill>
            <a:srgbClr val="2B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7848" y="15819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2011680"/>
            <a:ext cx="34290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JSONで説明変数を受け取る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保存済みモデルで推論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3つの予測値をレスポンスとして返却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657600"/>
            <a:ext cx="3794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3657600"/>
            <a:ext cx="73152" cy="228600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3822191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Streamlit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4251960"/>
            <a:ext cx="3429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入力値を画面から操作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FastAPIへリクエスト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予測結果を表形式で表示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モデルとUIを分離した構成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Yu Gothic"/>
              </a:defRPr>
            </a:pPr>
            <a:r>
              <a:t>dialysis_bp_prediction  |  Portfolio Overview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375F"/>
                </a:solidFill>
                <a:latin typeface="Yu Gothic"/>
              </a:rPr>
              <a:t>6. 課題・改善案・得られた経験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46E78"/>
                </a:solidFill>
                <a:latin typeface="Yu Gothic"/>
              </a:rPr>
              <a:t>精度の限界を認識し、次の改善につなげる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32004"/>
          </a:xfrm>
          <a:prstGeom prst="rect">
            <a:avLst/>
          </a:prstGeom>
          <a:solidFill>
            <a:srgbClr val="2B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526280"/>
          </a:xfrm>
          <a:prstGeom prst="rect">
            <a:avLst/>
          </a:prstGeom>
          <a:solidFill>
            <a:srgbClr val="B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現状の課題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1168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データ数が数百例と少ない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血圧変動は多因子性で説明が難しい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時系列データとしての構造を十分に活用できていない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追加の臨床情報・特徴量検討が必要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4526280"/>
          </a:xfrm>
          <a:prstGeom prst="rect">
            <a:avLst/>
          </a:prstGeom>
          <a:solidFill>
            <a:srgbClr val="D3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8191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改善案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1168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患者単位の分割・リーク確認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時系列モデルとの比較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ベースラインモデルとの性能比較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特徴量設計・ハイパーパラメータ探索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SHAP等による説明可能性の強化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4526280"/>
          </a:xfrm>
          <a:prstGeom prst="rect">
            <a:avLst/>
          </a:prstGeom>
          <a:solidFill>
            <a:srgbClr val="2E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58191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F"/>
                </a:solidFill>
                <a:latin typeface="Yu Gothic"/>
              </a:defRPr>
            </a:pPr>
            <a:r>
              <a:t>得られた経験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1168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医療課題の定式化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PyTorchによる多出力回帰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前処理・評価設計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モデルartifact管理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FastAPIによるREST API化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Yu Gothic"/>
              </a:defRPr>
            </a:pPr>
            <a:r>
              <a:t>Streamlitによる利用画面の実装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Yu Gothic"/>
              </a:defRPr>
            </a:pPr>
            <a:r>
              <a:t>dialysis_bp_prediction  |  Portfolio Overview  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384</Words>
  <Application>Microsoft Office PowerPoint</Application>
  <PresentationFormat>ワイド画面</PresentationFormat>
  <Paragraphs>119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達 市川</cp:lastModifiedBy>
  <cp:revision>2</cp:revision>
  <dcterms:created xsi:type="dcterms:W3CDTF">2013-01-27T09:14:16Z</dcterms:created>
  <dcterms:modified xsi:type="dcterms:W3CDTF">2026-08-12T16:48:57Z</dcterms:modified>
  <cp:category/>
</cp:coreProperties>
</file>